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8"/>
  </p:notesMasterIdLst>
  <p:sldIdLst>
    <p:sldId id="256" r:id="rId2"/>
    <p:sldId id="258" r:id="rId3"/>
    <p:sldId id="260" r:id="rId4"/>
    <p:sldId id="261" r:id="rId5"/>
    <p:sldId id="268" r:id="rId6"/>
    <p:sldId id="264" r:id="rId7"/>
    <p:sldId id="262" r:id="rId8"/>
    <p:sldId id="263" r:id="rId9"/>
    <p:sldId id="269" r:id="rId10"/>
    <p:sldId id="259" r:id="rId11"/>
    <p:sldId id="265" r:id="rId12"/>
    <p:sldId id="272" r:id="rId13"/>
    <p:sldId id="266" r:id="rId14"/>
    <p:sldId id="271" r:id="rId15"/>
    <p:sldId id="267" r:id="rId16"/>
    <p:sldId id="270" r:id="rId17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663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48D4E-4B7A-5547-C00D-C68880A1D2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D92E4E6-4727-50E7-1590-E3009C7F83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51A2A-6B78-9BE0-775F-8D4695D24D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BC5E4-7934-7F58-310F-AEB929D15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480B6E-AD1D-E496-1D4A-822954A50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731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E712C-D956-EE18-712A-49E6EDF4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94DF1-B0C5-C0B4-0181-3387F5D937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BA940-E462-EEE6-D3EE-4BDA30497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62BDB-22FE-77ED-AB7B-7EEF28DA1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E56D4-B9EA-0A5A-9E53-7B161ABEE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75904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4E79D-7BF0-44ED-0A61-86E0267B0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794EA-9AF9-54E0-C906-0B7702122C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25166D-A551-3F34-38E9-C24E198AB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AEEC-3172-EF2E-54F2-9985D93D4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7E4A27-DF29-74C0-B3E5-60416A65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0385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A3481-B952-5258-D125-06E31785E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068554-0DB4-260E-120D-343FDEB85A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49F4EB-3B88-1CD6-E026-010D752DFA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6277F9-33D4-3C45-B84B-9E420FDC2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620366-8501-E029-017D-7C0877E31B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2E5D60-46C2-01E5-9D2E-91D7A11F2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3440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15F65-FE21-AEC9-7EB9-DCEE99540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912F84-F762-4CC2-3743-20D62DA1E1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F2FFD2-57A3-A4D9-2EEB-2F26FFACD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FE9DA-4EEE-AD45-F7FA-AA7C491C6C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FBF741-A86A-FF56-FDB0-1DB974CB0E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3BBB19-C8EE-26BA-2167-7FEE874B8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AF80E5D-4BEC-718A-ACC4-DCD2370E2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BE3B6-7771-5E36-B080-382C0E827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13589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47F32-5395-AF0D-4CF4-A85BFB164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B8FEEF-A888-6E76-94BC-7CBB92E42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3F6F4F-06BA-8D9F-EB8F-4493C5DA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3E7B36-B7D6-AEEC-398F-491BEC54A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5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2169AA-578B-A0F3-354F-82B09A8D1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662820-9DB0-0DA5-48DF-1DE6C7AF6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A90BC-2EEE-3251-53DE-E3F02C74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75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F8A293-42AE-036D-8853-0E6C04743A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40B75-2716-9A1D-1830-37DBCC6EA6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79081D-150E-F463-38C1-045A76B49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8ED3A-CBB1-8755-1F09-AB1DCCB34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BC2D29-3B63-9CDB-B977-4A6A4620F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C3414C-E11F-786C-EA01-A7169838C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51429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0C695-4080-BC78-92BD-BF86FE6123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5CE8B7-E899-5874-82BF-6341D51646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3FCC4-1D78-CCA1-42A9-B1A5EA424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34BA84-DCB9-031A-AAE2-3ED2DC142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07963-604F-3DB3-F7CF-386738A0E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00D124-EC39-AB26-4698-8A4A2A9E7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471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E46643-63E1-682C-078E-0D9D7B01F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B9C350-BD55-F7FC-B186-385CC3E8A0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CC444-D92C-A1D2-45F8-D56A30830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954DC8-C3EC-E983-5DC9-5B9B4761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1138C9-1A98-7356-5CC8-87C2CACA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6026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002C594-1DE8-D90B-F280-DF90C91AE8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A97B35-B321-EBA1-10B8-9560B5880E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22FB19-1ACC-520A-AEB0-62C00C300C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96A2D-EA2E-F326-E39F-44C72790E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740C74-E39C-40F1-E6D4-E114998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079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82855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9F5B3-A7A5-1CC9-92EB-CF4B28FD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39B9A1-2CF9-DC06-5226-B94CEF4C12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6DE156-BE35-F51B-03A8-4004AC24A7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E4005-9BC3-5984-5072-8415E77B6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B8243-3756-EF2C-CCDD-92A08A7445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34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10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7" Type="http://schemas.openxmlformats.org/officeDocument/2006/relationships/image" Target="../media/image30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9.jpg"/><Relationship Id="rId5" Type="http://schemas.openxmlformats.org/officeDocument/2006/relationships/image" Target="../media/image28.jpg"/><Relationship Id="rId4" Type="http://schemas.openxmlformats.org/officeDocument/2006/relationships/image" Target="../media/image2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0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3"/>
          <p:cNvSpPr/>
          <p:nvPr/>
        </p:nvSpPr>
        <p:spPr>
          <a:xfrm>
            <a:off x="-274320" y="58978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kern="0" spc="3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 REVIEW</a:t>
            </a:r>
            <a:endParaRPr lang="en-US" b="1" dirty="0"/>
          </a:p>
        </p:txBody>
      </p:sp>
      <p:sp>
        <p:nvSpPr>
          <p:cNvPr id="7" name="Text 4"/>
          <p:cNvSpPr/>
          <p:nvPr/>
        </p:nvSpPr>
        <p:spPr>
          <a:xfrm>
            <a:off x="4145280" y="960120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RideX</a:t>
            </a:r>
            <a:endParaRPr lang="en-US" sz="7200" dirty="0"/>
          </a:p>
        </p:txBody>
      </p:sp>
      <p:sp>
        <p:nvSpPr>
          <p:cNvPr id="8" name="Text 5"/>
          <p:cNvSpPr/>
          <p:nvPr/>
        </p:nvSpPr>
        <p:spPr>
          <a:xfrm>
            <a:off x="1645920" y="260604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Uber  |  Prototype: a full-stack, real-time ride-hailing system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005840" y="38176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       Rithikkaa S J - CH.EN.U4CCE23035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         Parinitha M - CH.EN.U4CCE23028</a:t>
            </a:r>
          </a:p>
          <a:p>
            <a:pPr marL="0" indent="0" algn="ctr">
              <a:buNone/>
            </a:pPr>
            <a:r>
              <a:rPr lang="en-US" b="1" dirty="0">
                <a:solidFill>
                  <a:schemeClr val="bg1"/>
                </a:solidFill>
              </a:rPr>
              <a:t>         Srikant M Y - CH.EN.U4CCE23017</a:t>
            </a:r>
            <a:endParaRPr lang="en-US" b="1" dirty="0"/>
          </a:p>
        </p:txBody>
      </p:sp>
      <p:sp>
        <p:nvSpPr>
          <p:cNvPr id="11" name="Text 8"/>
          <p:cNvSpPr/>
          <p:nvPr/>
        </p:nvSpPr>
        <p:spPr>
          <a:xfrm>
            <a:off x="2811780" y="60396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MERN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3000375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212080" y="5985743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525780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EVENTS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649477" y="595503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772400" y="648081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ROLES: RIDER + CAPTAIN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10149840" y="5972175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18" name="Text 15"/>
          <p:cNvSpPr/>
          <p:nvPr/>
        </p:nvSpPr>
        <p:spPr>
          <a:xfrm>
            <a:off x="9936480" y="6446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kern="0" spc="1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95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RECAP  ·  PROBLEM IDENTIFIED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04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We Identified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Ride-hailing must match riders with nearby drivers instantly, accurately and reliably, and a centralized design cannot do this at scale.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58775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27249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Matching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29260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Millions of ride requests per minute must find the closest driver within seconds, not minutes.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336792" y="258775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hart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7249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Unpredictable Demand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086600" y="29260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Surge events — rain, holidays, concerts, flight delays — spike traffic 10-20x within minutes.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4672" y="446227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glob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" y="459943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Scale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Thousands of cities across 70+ countries, each with distinct local rules, maps, and traffic patterns.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80760" y="420624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336792" y="446227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triangleExclam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459943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Tolerance for Downtime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86600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outage means lost trips, lost revenue, and eroded trust from riders and drivers alike.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RECAP  ·  WHY DISTRIBUTED?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a Distributed System Is Required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shared database turns a local demand spike into a global outage. Here's how it happens step by step:</a:t>
            </a:r>
            <a:endParaRPr lang="en-US" sz="13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D2FE0C-C47C-1E81-9F65-00EB91C12E05}"/>
              </a:ext>
            </a:extLst>
          </p:cNvPr>
          <p:cNvGrpSpPr/>
          <p:nvPr/>
        </p:nvGrpSpPr>
        <p:grpSpPr>
          <a:xfrm>
            <a:off x="548639" y="2048256"/>
            <a:ext cx="11109959" cy="2569464"/>
            <a:chOff x="548640" y="2148840"/>
            <a:chExt cx="10405872" cy="2468880"/>
          </a:xfrm>
        </p:grpSpPr>
        <p:sp>
          <p:nvSpPr>
            <p:cNvPr id="5" name="Shape 3"/>
            <p:cNvSpPr/>
            <p:nvPr/>
          </p:nvSpPr>
          <p:spPr>
            <a:xfrm>
              <a:off x="54864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68580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8580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 demand spike hits</a:t>
              </a:r>
              <a:endParaRPr lang="en-US" sz="11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85800" y="3429000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A concert lets out thousands of ride requests land in one city within minutes.</a:t>
              </a:r>
              <a:endParaRPr lang="en-US" sz="10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54203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65176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278892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278892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78892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shared DB saturates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788920" y="3566160"/>
              <a:ext cx="174650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Dispatch, pricing, and billing all query the same PostgreSQL instance; connection pools exhaust.</a:t>
              </a:r>
              <a:endParaRPr lang="en-US" sz="10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4515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5488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489204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489204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89204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Unrelated queries slow down</a:t>
              </a:r>
              <a:endParaRPr lang="en-US" sz="11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892040" y="3429000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Billing and notification queries now compete with ride-matching for the same locked rows.</a:t>
              </a:r>
              <a:endParaRPr lang="en-US" sz="10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74827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85800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Shape 22"/>
            <p:cNvSpPr/>
            <p:nvPr/>
          </p:nvSpPr>
          <p:spPr>
            <a:xfrm>
              <a:off x="699516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23"/>
            <p:cNvSpPr/>
            <p:nvPr/>
          </p:nvSpPr>
          <p:spPr>
            <a:xfrm>
              <a:off x="699516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99516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API timeouts cascade</a:t>
              </a:r>
              <a:endParaRPr lang="en-US" sz="1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80888" y="3323242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Rider and driver apps start timing out; retries pile on and add even more load to the DB.</a:t>
              </a:r>
              <a:endParaRPr lang="en-US" sz="10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85139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96112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28"/>
            <p:cNvSpPr/>
            <p:nvPr/>
          </p:nvSpPr>
          <p:spPr>
            <a:xfrm>
              <a:off x="9098280" y="2313432"/>
              <a:ext cx="384048" cy="402336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5</a:t>
              </a: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909828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The whole platform stalls</a:t>
              </a:r>
              <a:endParaRPr lang="en-US" sz="11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9089136" y="3416195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One city's spike degrades ride matching everywhere the monolith serves  a global outage from a local cause.</a:t>
              </a:r>
              <a:endParaRPr lang="en-US" sz="105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548640" y="4892040"/>
            <a:ext cx="11109960" cy="1417320"/>
          </a:xfrm>
          <a:prstGeom prst="roundRect">
            <a:avLst>
              <a:gd name="adj" fmla="val 645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 dirty="0"/>
          </a:p>
        </p:txBody>
      </p:sp>
      <p:sp>
        <p:nvSpPr>
          <p:cNvPr id="35" name="Shape 33"/>
          <p:cNvSpPr/>
          <p:nvPr/>
        </p:nvSpPr>
        <p:spPr>
          <a:xfrm>
            <a:off x="822960" y="5193792"/>
            <a:ext cx="777240" cy="77724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0" descr="/home/claude/work/icons/scaleBalanc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" y="5394960"/>
            <a:ext cx="411480" cy="4114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828800" y="5074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CAP Theorem, in practice.  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A distributed system can only fully guarantee two of three: Consistency, Availability, and Partition tolerance. Uber's redesign deliberately favours Availability + Partition tolerance for ride matching, accepting brief, eventual consistency on things like driver location, so the platform never goes fully dark.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RECAP  ·  PROPOSED SOLUTION (REVIEW 1)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Review 1 Solution: Uber's Distributed Reference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/ Driver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Apps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5486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88920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Gateway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&amp; Auth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51960" y="2743200"/>
            <a:ext cx="5486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549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551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467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7553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469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469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469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3555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651760"/>
            <a:ext cx="6172200" cy="731520"/>
          </a:xfrm>
          <a:prstGeom prst="roundRect">
            <a:avLst>
              <a:gd name="adj" fmla="val 8750"/>
            </a:avLst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274320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Kafka Event Stream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30632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Billions of real-time events per day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463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Trip DB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(Schemaless)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549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465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465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Location DB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(Cassandra)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551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467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0467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(Redis)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7553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6469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6469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6469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3555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Review 1 reference design;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RideX is a scaled-down version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4892040"/>
            <a:ext cx="1037844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1440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DISTRIBUTE IT?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1440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09728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service scales independently based on demand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347472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5760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point of failure across the platform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603504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1792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deploy and update services independently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859536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77824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is partitioned close to where users need it</a:t>
            </a:r>
            <a:endParaRPr lang="en-US" sz="97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PROPOSED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Tiered, Event-Driven RideX Platform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2331720"/>
            <a:ext cx="1554480" cy="822960"/>
          </a:xfrm>
          <a:prstGeom prst="roundRect">
            <a:avLst>
              <a:gd name="adj" fmla="val 7778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6400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/ Captain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640080" y="28346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194560" y="2743200"/>
            <a:ext cx="5486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788920" y="2331720"/>
            <a:ext cx="1463040" cy="822960"/>
          </a:xfrm>
          <a:prstGeom prst="roundRect">
            <a:avLst>
              <a:gd name="adj" fmla="val 7778"/>
            </a:avLst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788920" y="24231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API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2788920" y="28346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 · REST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251960" y="2743200"/>
            <a:ext cx="548640" cy="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463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3" name="Text 11"/>
          <p:cNvSpPr/>
          <p:nvPr/>
        </p:nvSpPr>
        <p:spPr>
          <a:xfrm>
            <a:off x="48463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463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+ fare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5549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64465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4465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465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71551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80467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80467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0467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API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7553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9646920" y="141732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9646920" y="15087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9646920" y="18745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Nodemailer (OTP)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0355580" y="2194560"/>
            <a:ext cx="0" cy="45720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4846320" y="2651760"/>
            <a:ext cx="6172200" cy="731520"/>
          </a:xfrm>
          <a:prstGeom prst="roundRect">
            <a:avLst>
              <a:gd name="adj" fmla="val 8750"/>
            </a:avLst>
          </a:prstGeom>
          <a:solidFill>
            <a:srgbClr val="06C167"/>
          </a:solidFill>
          <a:ln w="12700">
            <a:solidFill>
              <a:srgbClr val="06C16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846320" y="2743200"/>
            <a:ext cx="6172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D0D0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Real-Time Layer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6320" y="3063240"/>
            <a:ext cx="6172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ride-request · OTP start · payment-made · ride-ended · GPS every 10 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8463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48463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8463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(MongoDB Atlas)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5549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64465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64465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465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(MongoDB Atlas)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1551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80467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Text 38"/>
          <p:cNvSpPr/>
          <p:nvPr/>
        </p:nvSpPr>
        <p:spPr>
          <a:xfrm>
            <a:off x="80467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Rides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(MongoDB Atlas)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87553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9646920" y="3794760"/>
            <a:ext cx="1417320" cy="777240"/>
          </a:xfrm>
          <a:prstGeom prst="roundRect">
            <a:avLst>
              <a:gd name="adj" fmla="val 8235"/>
            </a:avLst>
          </a:prstGeom>
          <a:solidFill>
            <a:srgbClr val="1A1A1A"/>
          </a:solidFill>
          <a:ln w="12700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9646920" y="388620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9646920" y="42519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(Vercel)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355580" y="3383280"/>
            <a:ext cx="0" cy="365760"/>
          </a:xfrm>
          <a:prstGeom prst="line">
            <a:avLst/>
          </a:prstGeom>
          <a:noFill/>
          <a:ln w="19050">
            <a:solidFill>
              <a:srgbClr val="4A4A4A"/>
            </a:solidFill>
            <a:prstDash val="solid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640080" y="34290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Client, API and database run</a:t>
            </a:r>
            <a:endParaRPr lang="en-US" sz="900" dirty="0"/>
          </a:p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as separate network nodes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40080" y="4892040"/>
            <a:ext cx="10378440" cy="1371600"/>
          </a:xfrm>
          <a:prstGeom prst="roundRect">
            <a:avLst>
              <a:gd name="adj" fmla="val 5333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14400" y="5029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HIGHLIGHTS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91440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109728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Clients, API and database are independent, separately deployable tiers</a:t>
            </a:r>
            <a:endParaRPr lang="en-US" sz="970" dirty="0"/>
          </a:p>
        </p:txBody>
      </p:sp>
      <p:sp>
        <p:nvSpPr>
          <p:cNvPr id="52" name="Shape 50"/>
          <p:cNvSpPr/>
          <p:nvPr/>
        </p:nvSpPr>
        <p:spPr>
          <a:xfrm>
            <a:off x="347472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5760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JWT auth lets any API instance serve any request</a:t>
            </a:r>
            <a:endParaRPr lang="en-US" sz="970" dirty="0"/>
          </a:p>
        </p:txBody>
      </p:sp>
      <p:sp>
        <p:nvSpPr>
          <p:cNvPr id="54" name="Shape 52"/>
          <p:cNvSpPr/>
          <p:nvPr/>
        </p:nvSpPr>
        <p:spPr>
          <a:xfrm>
            <a:off x="603504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621792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pushes live updates, with polling as a fallback</a:t>
            </a:r>
            <a:endParaRPr lang="en-US" sz="970" dirty="0"/>
          </a:p>
        </p:txBody>
      </p:sp>
      <p:sp>
        <p:nvSpPr>
          <p:cNvPr id="56" name="Shape 54"/>
          <p:cNvSpPr/>
          <p:nvPr/>
        </p:nvSpPr>
        <p:spPr>
          <a:xfrm>
            <a:off x="8595360" y="5413248"/>
            <a:ext cx="82296" cy="82296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8778240" y="530352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solidFill>
                  <a:srgbClr val="D8D8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MongoDB Atlas replica set keeps data durable and available</a:t>
            </a:r>
            <a:endParaRPr lang="en-US" sz="97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 / PROTOTYPE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5852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RideX Prototype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working MERN application we built and demoed, covering rider and captain journeys end to 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icons/rou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44144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2313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Rider booking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1143000" y="26060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map, location autocomplete, vehicle choice and upfront fare before confirming.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48640" y="3264408"/>
            <a:ext cx="457200" cy="4572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work/icons/bo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3374136"/>
            <a:ext cx="237744" cy="23774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32461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Captain dashboard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1143000" y="3538728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status, live GPS, ride-request popup, accept/ignore and earnings stats.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548640" y="4197096"/>
            <a:ext cx="457200" cy="4572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work/icons/rupe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430682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43000" y="4178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ride flow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43000" y="4471416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pushes requests, OTP start, payment and ride-end events to both apps.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548640" y="5129784"/>
            <a:ext cx="457200" cy="45720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work/icons/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5239512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43000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access</a:t>
            </a:r>
            <a:endParaRPr lang="en-US" sz="1250" dirty="0"/>
          </a:p>
        </p:txBody>
      </p:sp>
      <p:sp>
        <p:nvSpPr>
          <p:cNvPr id="20" name="Text 14"/>
          <p:cNvSpPr/>
          <p:nvPr/>
        </p:nvSpPr>
        <p:spPr>
          <a:xfrm>
            <a:off x="1143000" y="5404104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Role-based JWT auth for riders and captains, plus email OTP password reset.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6446520" y="777240"/>
            <a:ext cx="5257800" cy="5532120"/>
          </a:xfrm>
          <a:prstGeom prst="roundRect">
            <a:avLst>
              <a:gd name="adj" fmla="val 1043"/>
            </a:avLst>
          </a:prstGeom>
          <a:solidFill>
            <a:srgbClr val="FFFFFF"/>
          </a:solidFill>
          <a:ln w="19050">
            <a:solidFill>
              <a:srgbClr val="E4E4E4"/>
            </a:solidFill>
            <a:prstDash val="solid"/>
          </a:ln>
          <a:effectLst>
            <a:outerShdw blurRad="1524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6556248" y="3840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3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RideX confirm-ride screen: pickup, destination and upfront fare.</a:t>
            </a:r>
            <a:endParaRPr lang="en-US" sz="930" dirty="0"/>
          </a:p>
        </p:txBody>
      </p:sp>
      <p:sp>
        <p:nvSpPr>
          <p:cNvPr id="24" name="Shape 17"/>
          <p:cNvSpPr/>
          <p:nvPr/>
        </p:nvSpPr>
        <p:spPr>
          <a:xfrm>
            <a:off x="6556248" y="4434840"/>
            <a:ext cx="5029200" cy="0"/>
          </a:xfrm>
          <a:prstGeom prst="line">
            <a:avLst/>
          </a:prstGeom>
          <a:noFill/>
          <a:ln w="12700">
            <a:solidFill>
              <a:srgbClr val="E4E4E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18"/>
          <p:cNvSpPr/>
          <p:nvPr/>
        </p:nvSpPr>
        <p:spPr>
          <a:xfrm>
            <a:off x="6556248" y="46177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vehicles  •  ₹787 Go fare  •  2 min ETA</a:t>
            </a:r>
            <a:endParaRPr lang="en-US" sz="1600" dirty="0"/>
          </a:p>
        </p:txBody>
      </p:sp>
      <p:sp>
        <p:nvSpPr>
          <p:cNvPr id="26" name="Text 19"/>
          <p:cNvSpPr/>
          <p:nvPr/>
        </p:nvSpPr>
        <p:spPr>
          <a:xfrm>
            <a:off x="6556248" y="51663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Screenshot captured from the running RideX demo.</a:t>
            </a:r>
            <a:endParaRPr lang="en-US" sz="900" dirty="0"/>
          </a:p>
        </p:txBody>
      </p:sp>
      <p:pic>
        <p:nvPicPr>
          <p:cNvPr id="27" name="Picture 26" descr="WhatsApp_Image_2026-10-01_at_9_56_58_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56248" y="1024128"/>
            <a:ext cx="5038344" cy="25349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TECHNOLOGIES USED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11191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RideX 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icons/networkWir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01168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Vite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for riders and captains with Tailwind CSS, GSAP and React Router.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4325112" y="160020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0" name="Shape 7"/>
          <p:cNvSpPr/>
          <p:nvPr/>
        </p:nvSpPr>
        <p:spPr>
          <a:xfrm>
            <a:off x="4599432" y="187452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/home/claude/work/icons/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6592" y="201168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9432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599432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 API with controllers, services and auth middleware.</a:t>
            </a:r>
            <a:endParaRPr lang="en-US" sz="980" dirty="0"/>
          </a:p>
        </p:txBody>
      </p:sp>
      <p:sp>
        <p:nvSpPr>
          <p:cNvPr id="14" name="Shape 10"/>
          <p:cNvSpPr/>
          <p:nvPr/>
        </p:nvSpPr>
        <p:spPr>
          <a:xfrm>
            <a:off x="8101584" y="160020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5" name="Shape 11"/>
          <p:cNvSpPr/>
          <p:nvPr/>
        </p:nvSpPr>
        <p:spPr>
          <a:xfrm>
            <a:off x="8375904" y="187452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2" descr="/home/claude/work/icons/towerBroadc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3064" y="201168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75904" y="256032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8375904" y="306324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ride requests, OTP, payment and GPS events.</a:t>
            </a:r>
            <a:endParaRPr lang="en-US" sz="98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0" name="Shape 15"/>
          <p:cNvSpPr/>
          <p:nvPr/>
        </p:nvSpPr>
        <p:spPr>
          <a:xfrm>
            <a:off x="822960" y="420624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3" descr="/home/claude/work/icons/dat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" y="434340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Atlas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822960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document store (via Mongoose) for users, captains and rides.</a:t>
            </a:r>
            <a:endParaRPr lang="en-US" sz="980" dirty="0"/>
          </a:p>
        </p:txBody>
      </p:sp>
      <p:sp>
        <p:nvSpPr>
          <p:cNvPr id="24" name="Shape 18"/>
          <p:cNvSpPr/>
          <p:nvPr/>
        </p:nvSpPr>
        <p:spPr>
          <a:xfrm>
            <a:off x="4325112" y="393192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5" name="Shape 19"/>
          <p:cNvSpPr/>
          <p:nvPr/>
        </p:nvSpPr>
        <p:spPr>
          <a:xfrm>
            <a:off x="4599432" y="420624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6" name="Image 4" descr="/home/claude/work/icons/locationD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6592" y="434340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99432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bcrypt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4599432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Stateless tokens with role-based guards and hashed passwords.</a:t>
            </a:r>
            <a:endParaRPr lang="en-US" sz="980" dirty="0"/>
          </a:p>
        </p:txBody>
      </p:sp>
      <p:sp>
        <p:nvSpPr>
          <p:cNvPr id="29" name="Shape 22"/>
          <p:cNvSpPr/>
          <p:nvPr/>
        </p:nvSpPr>
        <p:spPr>
          <a:xfrm>
            <a:off x="8101584" y="3931920"/>
            <a:ext cx="3566160" cy="2103120"/>
          </a:xfrm>
          <a:prstGeom prst="roundRect">
            <a:avLst>
              <a:gd name="adj" fmla="val 3913"/>
            </a:avLst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30" name="Shape 23"/>
          <p:cNvSpPr/>
          <p:nvPr/>
        </p:nvSpPr>
        <p:spPr>
          <a:xfrm>
            <a:off x="8375904" y="420624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1" name="Image 5" descr="/home/claude/work/icons/clou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434340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75904" y="489204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Maps + Nodemailer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8375904" y="5394960"/>
            <a:ext cx="3063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98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Distance, autocomplete and fares; SMTP OTP emails for password reset.</a:t>
            </a:r>
            <a:endParaRPr lang="en-US" sz="98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DISTRIBUTED SYSTEMS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Distributed Concepts Applied in RideX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Even at prototype scale, RideX applies core distributed-systems techniques.</a:t>
            </a:r>
            <a:endParaRPr lang="en-US" sz="125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49240" cy="1920240"/>
          </a:xfrm>
          <a:prstGeom prst="roundRect">
            <a:avLst>
              <a:gd name="adj" fmla="val 428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22199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locationD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350008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228269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Client–Server Separation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993518" y="2730749"/>
            <a:ext cx="4721482" cy="1101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React clients and the Express API run as separate nodes over HTTP and WebSocket.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26480" y="1965960"/>
            <a:ext cx="5349240" cy="1920240"/>
          </a:xfrm>
          <a:prstGeom prst="roundRect">
            <a:avLst>
              <a:gd name="adj" fmla="val 428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382512" y="222199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ircleNod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0528" y="2350008"/>
            <a:ext cx="274320" cy="2743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53072" y="2282693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Event-Driven Messaging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412992" y="2752344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Socket.IO events (ride request, OTP start, payment, ride end) sync both apps in real time, with polling as fallback.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114800"/>
            <a:ext cx="5349240" cy="1920240"/>
          </a:xfrm>
          <a:prstGeom prst="roundRect">
            <a:avLst>
              <a:gd name="adj" fmla="val 428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4672" y="437083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4498848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4198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Distributed Data Layer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944880" y="4817624"/>
            <a:ext cx="46828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MongoDB Atlas is a managed, replicated cloud database, separate from the application server.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26480" y="4114800"/>
            <a:ext cx="5349240" cy="1920240"/>
          </a:xfrm>
          <a:prstGeom prst="roundRect">
            <a:avLst>
              <a:gd name="adj" fmla="val 4286"/>
            </a:avLst>
          </a:prstGeom>
          <a:ln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382512" y="4370832"/>
            <a:ext cx="530352" cy="530352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shieldHalv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0528" y="449884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09006" y="4435035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Stateless Auth + Remote Services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487668" y="4870931"/>
            <a:ext cx="48463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8000"/>
              </a:lnSpc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JWT lets any API instance verify requests; Google Maps and SMTP are consumed as remote services.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Ride Lifecycle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step is coordinated across the rider app, API server, database and captain app.</a:t>
            </a:r>
            <a:endParaRPr lang="en-US" sz="1300" dirty="0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AD2FE0C-C47C-1E81-9F65-00EB91C12E05}"/>
              </a:ext>
            </a:extLst>
          </p:cNvPr>
          <p:cNvGrpSpPr/>
          <p:nvPr/>
        </p:nvGrpSpPr>
        <p:grpSpPr>
          <a:xfrm>
            <a:off x="548639" y="2048256"/>
            <a:ext cx="11109959" cy="2569464"/>
            <a:chOff x="548640" y="2148840"/>
            <a:chExt cx="10405872" cy="2468880"/>
          </a:xfrm>
        </p:grpSpPr>
        <p:sp>
          <p:nvSpPr>
            <p:cNvPr id="5" name="Shape 3"/>
            <p:cNvSpPr/>
            <p:nvPr/>
          </p:nvSpPr>
          <p:spPr>
            <a:xfrm>
              <a:off x="54864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6" name="Shape 4"/>
            <p:cNvSpPr/>
            <p:nvPr/>
          </p:nvSpPr>
          <p:spPr>
            <a:xfrm>
              <a:off x="68580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Text 5"/>
            <p:cNvSpPr/>
            <p:nvPr/>
          </p:nvSpPr>
          <p:spPr>
            <a:xfrm>
              <a:off x="68580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</a:t>
              </a:r>
              <a:endParaRPr lang="en-US" sz="14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68580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Rider books ride</a:t>
              </a:r>
              <a:endParaRPr lang="en-US" sz="115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685800" y="3429000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Picks pickup, destination and vehicle; upfront fare is confirmed.</a:t>
              </a:r>
              <a:endParaRPr lang="en-US" sz="105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254203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65176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Shape 10"/>
            <p:cNvSpPr/>
            <p:nvPr/>
          </p:nvSpPr>
          <p:spPr>
            <a:xfrm>
              <a:off x="278892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Text 11"/>
            <p:cNvSpPr/>
            <p:nvPr/>
          </p:nvSpPr>
          <p:spPr>
            <a:xfrm>
              <a:off x="278892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2</a:t>
              </a:r>
              <a:endParaRPr lang="en-US" sz="1400" dirty="0"/>
            </a:p>
          </p:txBody>
        </p:sp>
        <p:sp>
          <p:nvSpPr>
            <p:cNvPr id="14" name="Text 12"/>
            <p:cNvSpPr/>
            <p:nvPr/>
          </p:nvSpPr>
          <p:spPr>
            <a:xfrm>
              <a:off x="278892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Captain is matched</a:t>
              </a:r>
              <a:endParaRPr lang="en-US" sz="115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2788920" y="3566160"/>
              <a:ext cx="1746504" cy="9601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Request pops up on the captain app in real time; captain accepts.</a:t>
              </a:r>
              <a:endParaRPr lang="en-US" sz="105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464515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17" name="Shape 15"/>
            <p:cNvSpPr/>
            <p:nvPr/>
          </p:nvSpPr>
          <p:spPr>
            <a:xfrm>
              <a:off x="475488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Shape 16"/>
            <p:cNvSpPr/>
            <p:nvPr/>
          </p:nvSpPr>
          <p:spPr>
            <a:xfrm>
              <a:off x="489204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Text 17"/>
            <p:cNvSpPr/>
            <p:nvPr/>
          </p:nvSpPr>
          <p:spPr>
            <a:xfrm>
              <a:off x="489204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3</a:t>
              </a:r>
              <a:endParaRPr lang="en-US" sz="14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489204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OTP starts the ride</a:t>
              </a:r>
              <a:endParaRPr lang="en-US" sz="115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4892040" y="3429000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OTP goes to the rider; captain enters it to verify and start.</a:t>
              </a:r>
              <a:endParaRPr lang="en-US" sz="1050" dirty="0"/>
            </a:p>
          </p:txBody>
        </p:sp>
        <p:sp>
          <p:nvSpPr>
            <p:cNvPr id="22" name="Text 20"/>
            <p:cNvSpPr/>
            <p:nvPr/>
          </p:nvSpPr>
          <p:spPr>
            <a:xfrm>
              <a:off x="674827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685800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Shape 22"/>
            <p:cNvSpPr/>
            <p:nvPr/>
          </p:nvSpPr>
          <p:spPr>
            <a:xfrm>
              <a:off x="6995160" y="2313432"/>
              <a:ext cx="384048" cy="384048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Text 23"/>
            <p:cNvSpPr/>
            <p:nvPr/>
          </p:nvSpPr>
          <p:spPr>
            <a:xfrm>
              <a:off x="6995160" y="2313432"/>
              <a:ext cx="384048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4</a:t>
              </a:r>
              <a:endParaRPr lang="en-US" sz="14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699516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tracking</a:t>
              </a:r>
              <a:endParaRPr lang="en-US" sz="1150" dirty="0"/>
            </a:p>
          </p:txBody>
        </p:sp>
        <p:sp>
          <p:nvSpPr>
            <p:cNvPr id="27" name="Text 25"/>
            <p:cNvSpPr/>
            <p:nvPr/>
          </p:nvSpPr>
          <p:spPr>
            <a:xfrm>
              <a:off x="6980888" y="3323242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Captain GPS is broadcast every 10 s so the rider sees progress.</a:t>
              </a:r>
              <a:endParaRPr lang="en-US" sz="1050" dirty="0"/>
            </a:p>
          </p:txBody>
        </p:sp>
        <p:sp>
          <p:nvSpPr>
            <p:cNvPr id="28" name="Text 26"/>
            <p:cNvSpPr/>
            <p:nvPr/>
          </p:nvSpPr>
          <p:spPr>
            <a:xfrm>
              <a:off x="8851392" y="3108960"/>
              <a:ext cx="128016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600" b="1" dirty="0">
                  <a:solidFill>
                    <a:srgbClr val="9A9A9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1600" dirty="0"/>
            </a:p>
          </p:txBody>
        </p:sp>
        <p:sp>
          <p:nvSpPr>
            <p:cNvPr id="29" name="Shape 27"/>
            <p:cNvSpPr/>
            <p:nvPr/>
          </p:nvSpPr>
          <p:spPr>
            <a:xfrm>
              <a:off x="8961120" y="2148840"/>
              <a:ext cx="1993392" cy="2468880"/>
            </a:xfrm>
            <a:prstGeom prst="roundRect">
              <a:avLst>
                <a:gd name="adj" fmla="val 3670"/>
              </a:avLst>
            </a:prstGeom>
            <a:ln/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28"/>
            <p:cNvSpPr/>
            <p:nvPr/>
          </p:nvSpPr>
          <p:spPr>
            <a:xfrm>
              <a:off x="9098280" y="2313432"/>
              <a:ext cx="384048" cy="402336"/>
            </a:xfrm>
            <a:prstGeom prst="ellipse">
              <a:avLst/>
            </a:prstGeom>
            <a:solidFill>
              <a:schemeClr val="accent1"/>
            </a:solidFill>
            <a:ln/>
          </p:spPr>
          <p:txBody>
            <a:bodyPr/>
            <a:lstStyle/>
            <a:p>
              <a:r>
                <a:rPr lang="en-US" sz="1400" b="1" dirty="0">
                  <a:solidFill>
                    <a:schemeClr val="bg1"/>
                  </a:solidFill>
                </a:rPr>
                <a:t>5</a:t>
              </a:r>
              <a:endParaRPr lang="en-IN" sz="14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9098280" y="2807208"/>
              <a:ext cx="1719072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lnSpc>
                  <a:spcPct val="110000"/>
                </a:lnSpc>
                <a:buNone/>
              </a:pPr>
              <a:r>
                <a:rPr lang="en-US" sz="115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Pay and finish</a:t>
              </a:r>
              <a:endParaRPr lang="en-US" sz="115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9089136" y="3416195"/>
              <a:ext cx="1719072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just">
                <a:lnSpc>
                  <a:spcPct val="125000"/>
                </a:lnSpc>
                <a:buNone/>
              </a:pPr>
              <a:r>
                <a:rPr lang="en-US" sz="1050" dirty="0">
                  <a:latin typeface="Arial" pitchFamily="34" charset="0"/>
                  <a:ea typeface="Arial" pitchFamily="34" charset="-122"/>
                  <a:cs typeface="Arial" pitchFamily="34" charset="-120"/>
                </a:rPr>
                <a:t>Rider confirms cash payment; captain finishes and stats update.</a:t>
              </a:r>
              <a:endParaRPr lang="en-US" sz="105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548640" y="4892040"/>
            <a:ext cx="11109960" cy="1417320"/>
          </a:xfrm>
          <a:prstGeom prst="roundRect">
            <a:avLst>
              <a:gd name="adj" fmla="val 6452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endParaRPr lang="en-IN" dirty="0"/>
          </a:p>
        </p:txBody>
      </p:sp>
      <p:sp>
        <p:nvSpPr>
          <p:cNvPr id="35" name="Shape 33"/>
          <p:cNvSpPr/>
          <p:nvPr/>
        </p:nvSpPr>
        <p:spPr>
          <a:xfrm>
            <a:off x="822960" y="5193792"/>
            <a:ext cx="777240" cy="777240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6" name="Image 0" descr="/home/claude/work/icons/scaleBalanc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" y="5394960"/>
            <a:ext cx="411480" cy="41148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1828800" y="5074920"/>
            <a:ext cx="9601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Consistency vs availability.  </a:t>
            </a:r>
            <a:r>
              <a:rPr lang="en-US" sz="1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Arial" pitchFamily="34" charset="0"/>
                <a:ea typeface="Arial" pitchFamily="34" charset="-122"/>
                <a:cs typeface="Arial" pitchFamily="34" charset="-120"/>
              </a:rPr>
              <a:t>Ride state is stored in MongoDB while Socket.IO events fan out updates, so both apps converge on the same ride status within moments (eventual consistency).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FAULT TOLERANCE IMPLEMENTATION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881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How RideX Keeps Working When Parts Fail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4114800" cy="4480560"/>
          </a:xfrm>
          <a:prstGeom prst="roundRect">
            <a:avLst>
              <a:gd name="adj" fmla="val 2222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icons/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48256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06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Resilience by Design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90779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latin typeface="Arial" pitchFamily="34" charset="0"/>
                <a:ea typeface="Arial" pitchFamily="34" charset="-122"/>
                <a:cs typeface="Arial" pitchFamily="34" charset="-120"/>
              </a:rPr>
              <a:t>Prototype level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914400" y="3310128"/>
            <a:ext cx="3429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just">
              <a:lnSpc>
                <a:spcPct val="13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Failures stay contained to one tier.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53440" y="4160520"/>
            <a:ext cx="3618689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Ride state lives in MongoDB, so a refresh, window switch or server restart does not lose an active ride.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029200" y="1691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latin typeface="Arial" pitchFamily="34" charset="0"/>
                <a:ea typeface="Arial" pitchFamily="34" charset="-122"/>
                <a:cs typeface="Arial" pitchFamily="34" charset="-120"/>
              </a:rPr>
              <a:t>FAULT-TOLERANCE MECHANISMS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0" y="2057400"/>
            <a:ext cx="3154680" cy="1783080"/>
          </a:xfrm>
          <a:prstGeom prst="roundRect">
            <a:avLst>
              <a:gd name="adj" fmla="val 410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3" name="Shape 10"/>
          <p:cNvSpPr/>
          <p:nvPr/>
        </p:nvSpPr>
        <p:spPr>
          <a:xfrm>
            <a:off x="525780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1" descr="/home/claude/work/icons/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7528" y="239572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25780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Socket Auto-Reconnect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257800" y="3031333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latin typeface="Arial" pitchFamily="34" charset="0"/>
                <a:ea typeface="Arial" pitchFamily="34" charset="-122"/>
                <a:cs typeface="Arial" pitchFamily="34" charset="-120"/>
              </a:rPr>
              <a:t>Clients retry indefinitely (1 s delay); captains re-register their socket on reconnect.</a:t>
            </a:r>
            <a:endParaRPr lang="en-US" sz="970" dirty="0"/>
          </a:p>
        </p:txBody>
      </p:sp>
      <p:sp>
        <p:nvSpPr>
          <p:cNvPr id="17" name="Shape 13"/>
          <p:cNvSpPr/>
          <p:nvPr/>
        </p:nvSpPr>
        <p:spPr>
          <a:xfrm>
            <a:off x="8366760" y="2057400"/>
            <a:ext cx="3154680" cy="1783080"/>
          </a:xfrm>
          <a:prstGeom prst="roundRect">
            <a:avLst>
              <a:gd name="adj" fmla="val 410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8" name="Shape 14"/>
          <p:cNvSpPr/>
          <p:nvPr/>
        </p:nvSpPr>
        <p:spPr>
          <a:xfrm>
            <a:off x="8595360" y="22860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9" name="Image 2" descr="/home/claude/work/icons/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395728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595360" y="2834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Polling Fallback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595360" y="3018201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latin typeface="Arial" pitchFamily="34" charset="0"/>
                <a:ea typeface="Arial" pitchFamily="34" charset="-122"/>
                <a:cs typeface="Arial" pitchFamily="34" charset="-120"/>
              </a:rPr>
              <a:t>If sockets fail (e.g. serverless hosting), apps poll every 3 s for rides and active-ride status.</a:t>
            </a:r>
            <a:endParaRPr lang="en-US" sz="970" dirty="0"/>
          </a:p>
        </p:txBody>
      </p:sp>
      <p:sp>
        <p:nvSpPr>
          <p:cNvPr id="22" name="Shape 17"/>
          <p:cNvSpPr/>
          <p:nvPr/>
        </p:nvSpPr>
        <p:spPr>
          <a:xfrm>
            <a:off x="5029200" y="4023360"/>
            <a:ext cx="3154680" cy="1783080"/>
          </a:xfrm>
          <a:prstGeom prst="roundRect">
            <a:avLst>
              <a:gd name="adj" fmla="val 410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>
              <a:solidFill>
                <a:schemeClr val="tx1"/>
              </a:solidFill>
            </a:endParaRPr>
          </a:p>
        </p:txBody>
      </p:sp>
      <p:sp>
        <p:nvSpPr>
          <p:cNvPr id="23" name="Shape 18"/>
          <p:cNvSpPr/>
          <p:nvPr/>
        </p:nvSpPr>
        <p:spPr>
          <a:xfrm>
            <a:off x="525780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4" name="Image 3" descr="/home/claude/work/icons/clo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67528" y="4361688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25780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Ride State Recovery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5257800" y="5056632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latin typeface="Arial" pitchFamily="34" charset="0"/>
                <a:ea typeface="Arial" pitchFamily="34" charset="-122"/>
                <a:cs typeface="Arial" pitchFamily="34" charset="-120"/>
              </a:rPr>
              <a:t>Active ride, status and OTP reload from the database after a refresh.</a:t>
            </a:r>
            <a:endParaRPr lang="en-US" sz="970" dirty="0"/>
          </a:p>
        </p:txBody>
      </p:sp>
      <p:sp>
        <p:nvSpPr>
          <p:cNvPr id="27" name="Shape 21"/>
          <p:cNvSpPr/>
          <p:nvPr/>
        </p:nvSpPr>
        <p:spPr>
          <a:xfrm>
            <a:off x="8366760" y="4023360"/>
            <a:ext cx="3154680" cy="1783080"/>
          </a:xfrm>
          <a:prstGeom prst="roundRect">
            <a:avLst>
              <a:gd name="adj" fmla="val 4103"/>
            </a:avLst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8" name="Shape 22"/>
          <p:cNvSpPr/>
          <p:nvPr/>
        </p:nvSpPr>
        <p:spPr>
          <a:xfrm>
            <a:off x="8595360" y="42519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9" name="Image 4" descr="/home/claude/work/icons/lin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05088" y="436168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595360" y="4800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Location Heartbeat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595360" y="49834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70" dirty="0">
                <a:latin typeface="Arial" pitchFamily="34" charset="0"/>
                <a:ea typeface="Arial" pitchFamily="34" charset="-122"/>
                <a:cs typeface="Arial" pitchFamily="34" charset="-120"/>
              </a:rPr>
              <a:t>GPS is saved every 10 s, so a missed update is corrected by the next.</a:t>
            </a:r>
            <a:endParaRPr lang="en-US" sz="97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5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Load Test: Concurrent Fare Requests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latin typeface="Arial" pitchFamily="34" charset="0"/>
                <a:ea typeface="Arial" pitchFamily="34" charset="-122"/>
                <a:cs typeface="Arial" pitchFamily="34" charset="-120"/>
              </a:rPr>
              <a:t>GET /rides/get-fare (auth + Google Maps lookup) fired with 1, 10, 25 and 50 simultaneous requests.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Arial" pitchFamily="34" charset="0"/>
                <a:ea typeface="Arial" pitchFamily="34" charset="-122"/>
                <a:cs typeface="Arial" pitchFamily="34" charset="-120"/>
              </a:rPr>
              <a:t>LOAD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0" y="19659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94944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latin typeface="Arial" pitchFamily="34" charset="0"/>
                <a:ea typeface="Arial" pitchFamily="34" charset="-122"/>
                <a:cs typeface="Arial" pitchFamily="34" charset="-120"/>
              </a:rPr>
              <a:t>LATENCY  (AVG / P95)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331720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384048" cy="38404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000"/>
          </a:p>
        </p:txBody>
      </p:sp>
      <p:pic>
        <p:nvPicPr>
          <p:cNvPr id="10" name="Image 0" descr="/home/claude/work/icons/laptop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551176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51560" y="2423160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 request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0" y="2496312"/>
            <a:ext cx="2148840" cy="384048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800"/>
          </a:p>
        </p:txBody>
      </p:sp>
      <p:sp>
        <p:nvSpPr>
          <p:cNvPr id="13" name="Text 10"/>
          <p:cNvSpPr/>
          <p:nvPr/>
        </p:nvSpPr>
        <p:spPr>
          <a:xfrm>
            <a:off x="4572000" y="249631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 / 1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949440" y="24231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2,740 ms  /  2,740 ms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090672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16" name="Shape 13"/>
          <p:cNvSpPr/>
          <p:nvPr/>
        </p:nvSpPr>
        <p:spPr>
          <a:xfrm>
            <a:off x="548640" y="3218688"/>
            <a:ext cx="384048" cy="38404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000"/>
          </a:p>
        </p:txBody>
      </p:sp>
      <p:pic>
        <p:nvPicPr>
          <p:cNvPr id="17" name="Image 1" descr="/home/claude/work/icons/rou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310128"/>
            <a:ext cx="201168" cy="20116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051560" y="3182112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10 concurrent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4572000" y="3255264"/>
            <a:ext cx="2148840" cy="384048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800"/>
          </a:p>
        </p:txBody>
      </p:sp>
      <p:sp>
        <p:nvSpPr>
          <p:cNvPr id="20" name="Text 16"/>
          <p:cNvSpPr/>
          <p:nvPr/>
        </p:nvSpPr>
        <p:spPr>
          <a:xfrm>
            <a:off x="4572000" y="3255264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49440" y="3182112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3,685 ms  /  4,475 ms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548640" y="3849624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23" name="Shape 19"/>
          <p:cNvSpPr/>
          <p:nvPr/>
        </p:nvSpPr>
        <p:spPr>
          <a:xfrm>
            <a:off x="548640" y="3977640"/>
            <a:ext cx="384048" cy="38404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000"/>
          </a:p>
        </p:txBody>
      </p:sp>
      <p:pic>
        <p:nvPicPr>
          <p:cNvPr id="24" name="Image 2" descr="/home/claude/work/icons/networkWi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69080"/>
            <a:ext cx="201168" cy="20116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1051560" y="3941064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25 concurrent</a:t>
            </a:r>
            <a:endParaRPr lang="en-US" sz="1200" dirty="0"/>
          </a:p>
        </p:txBody>
      </p:sp>
      <p:sp>
        <p:nvSpPr>
          <p:cNvPr id="26" name="Shape 21"/>
          <p:cNvSpPr/>
          <p:nvPr/>
        </p:nvSpPr>
        <p:spPr>
          <a:xfrm>
            <a:off x="4572000" y="4014216"/>
            <a:ext cx="2148840" cy="384048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800"/>
          </a:p>
        </p:txBody>
      </p:sp>
      <p:sp>
        <p:nvSpPr>
          <p:cNvPr id="27" name="Text 22"/>
          <p:cNvSpPr/>
          <p:nvPr/>
        </p:nvSpPr>
        <p:spPr>
          <a:xfrm>
            <a:off x="4572000" y="4014216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25 / 25</a:t>
            </a:r>
            <a:endParaRPr lang="en-US" sz="1100" dirty="0"/>
          </a:p>
        </p:txBody>
      </p:sp>
      <p:sp>
        <p:nvSpPr>
          <p:cNvPr id="28" name="Text 23"/>
          <p:cNvSpPr/>
          <p:nvPr/>
        </p:nvSpPr>
        <p:spPr>
          <a:xfrm>
            <a:off x="6949440" y="3941064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3,877 ms  /  4,644 ms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548640" y="4608576"/>
            <a:ext cx="1106424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 sz="2800"/>
          </a:p>
        </p:txBody>
      </p:sp>
      <p:sp>
        <p:nvSpPr>
          <p:cNvPr id="30" name="Shape 25"/>
          <p:cNvSpPr/>
          <p:nvPr/>
        </p:nvSpPr>
        <p:spPr>
          <a:xfrm>
            <a:off x="548640" y="4736592"/>
            <a:ext cx="384048" cy="384048"/>
          </a:xfrm>
          <a:prstGeom prst="ellipse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000"/>
          </a:p>
        </p:txBody>
      </p:sp>
      <p:pic>
        <p:nvPicPr>
          <p:cNvPr id="31" name="Image 3" descr="/home/claude/work/icons/rupeeSig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828032"/>
            <a:ext cx="201168" cy="20116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51560" y="4700016"/>
            <a:ext cx="3337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50 concurrent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4572000" y="4773168"/>
            <a:ext cx="2148840" cy="384048"/>
          </a:xfrm>
          <a:prstGeom prst="roundRect">
            <a:avLst>
              <a:gd name="adj" fmla="val 50000"/>
            </a:avLst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endParaRPr lang="en-IN" sz="2800"/>
          </a:p>
        </p:txBody>
      </p:sp>
      <p:sp>
        <p:nvSpPr>
          <p:cNvPr id="34" name="Text 28"/>
          <p:cNvSpPr/>
          <p:nvPr/>
        </p:nvSpPr>
        <p:spPr>
          <a:xfrm>
            <a:off x="4572000" y="4773168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50 / 50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6949440" y="4700016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4,052 ms  /  4,595 ms</a:t>
            </a:r>
            <a:endParaRPr lang="en-US" sz="1100" dirty="0"/>
          </a:p>
        </p:txBody>
      </p:sp>
      <p:sp>
        <p:nvSpPr>
          <p:cNvPr id="36" name="Shape 30"/>
          <p:cNvSpPr/>
          <p:nvPr/>
        </p:nvSpPr>
        <p:spPr>
          <a:xfrm>
            <a:off x="548640" y="5504688"/>
            <a:ext cx="11064240" cy="960120"/>
          </a:xfrm>
          <a:prstGeom prst="roundRect">
            <a:avLst>
              <a:gd name="adj" fmla="val 7619"/>
            </a:avLst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en-IN"/>
          </a:p>
        </p:txBody>
      </p:sp>
      <p:sp>
        <p:nvSpPr>
          <p:cNvPr id="37" name="Text 31"/>
          <p:cNvSpPr/>
          <p:nvPr/>
        </p:nvSpPr>
        <p:spPr>
          <a:xfrm>
            <a:off x="822960" y="5504688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Setup.  </a:t>
            </a:r>
            <a:r>
              <a:rPr lang="en-US" sz="1400" dirty="0">
                <a:latin typeface="Arial" pitchFamily="34" charset="0"/>
                <a:ea typeface="Arial" pitchFamily="34" charset="-122"/>
                <a:cs typeface="Arial" pitchFamily="34" charset="-120"/>
              </a:rPr>
              <a:t>Local backend (Node 20). 50x more load raised average latency only ~1.5x with zero failures; each request includes an external Google Maps call.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TESTING  ·  TEST OUTPUT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Load Test Output: GET /rides/get-fare</a:t>
            </a:r>
            <a:endParaRPr lang="en-US" sz="2700" dirty="0"/>
          </a:p>
        </p:txBody>
      </p:sp>
      <p:pic>
        <p:nvPicPr>
          <p:cNvPr id="5" name="Picture 4" descr="perf_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1828800"/>
            <a:ext cx="10607040" cy="183387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2480" y="3845554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333333"/>
                </a:solidFill>
              </a:rPr>
              <a:t>Output of ridex_loadtest.mjs run against the local backend: 1, 10, 25 and 50 concurrent requests, all successful (ok = successful responses). Latencies are in milliseconds.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&amp;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Distributed Design Gives Us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5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COMPARISON  ·  BASELINE  →  RIDEX</a:t>
            </a:r>
            <a:endParaRPr lang="en-US" sz="11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4731072A-7CC3-08DE-CC61-32A95E5D65BE}"/>
              </a:ext>
            </a:extLst>
          </p:cNvPr>
          <p:cNvGrpSpPr/>
          <p:nvPr/>
        </p:nvGrpSpPr>
        <p:grpSpPr>
          <a:xfrm>
            <a:off x="548640" y="1874519"/>
            <a:ext cx="6309360" cy="4769471"/>
            <a:chOff x="548640" y="1874520"/>
            <a:chExt cx="6309360" cy="2414016"/>
          </a:xfrm>
        </p:grpSpPr>
        <p:sp>
          <p:nvSpPr>
            <p:cNvPr id="5" name="Text 3"/>
            <p:cNvSpPr/>
            <p:nvPr/>
          </p:nvSpPr>
          <p:spPr>
            <a:xfrm>
              <a:off x="548640" y="1874520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Live updates</a:t>
              </a:r>
              <a:endParaRPr lang="en-US" sz="1600" dirty="0"/>
            </a:p>
          </p:txBody>
        </p:sp>
        <p:sp>
          <p:nvSpPr>
            <p:cNvPr id="6" name="Shape 4"/>
            <p:cNvSpPr/>
            <p:nvPr/>
          </p:nvSpPr>
          <p:spPr>
            <a:xfrm>
              <a:off x="2468880" y="1901952"/>
              <a:ext cx="1920240" cy="475488"/>
            </a:xfrm>
            <a:prstGeom prst="roundRect">
              <a:avLst>
                <a:gd name="adj" fmla="val 13462"/>
              </a:avLst>
            </a:prstGeom>
            <a:solidFill>
              <a:srgbClr val="FCEBEA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7" name="Text 5"/>
            <p:cNvSpPr/>
            <p:nvPr/>
          </p:nvSpPr>
          <p:spPr>
            <a:xfrm>
              <a:off x="2560320" y="1901952"/>
              <a:ext cx="17830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2E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Constant polling</a:t>
              </a:r>
              <a:endParaRPr lang="en-US" sz="1200" dirty="0"/>
            </a:p>
          </p:txBody>
        </p:sp>
        <p:sp>
          <p:nvSpPr>
            <p:cNvPr id="8" name="Shape 6"/>
            <p:cNvSpPr/>
            <p:nvPr/>
          </p:nvSpPr>
          <p:spPr>
            <a:xfrm>
              <a:off x="4572000" y="1901952"/>
              <a:ext cx="2286000" cy="475488"/>
            </a:xfrm>
            <a:prstGeom prst="roundRect">
              <a:avLst>
                <a:gd name="adj" fmla="val 13462"/>
              </a:avLst>
            </a:prstGeom>
            <a:solidFill>
              <a:srgbClr val="E4F8ED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9" name="Text 7"/>
            <p:cNvSpPr/>
            <p:nvPr/>
          </p:nvSpPr>
          <p:spPr>
            <a:xfrm>
              <a:off x="4663440" y="1901952"/>
              <a:ext cx="2148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585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Socket.IO push, polling fallback</a:t>
              </a:r>
              <a:endParaRPr lang="en-US" sz="1200" dirty="0"/>
            </a:p>
          </p:txBody>
        </p:sp>
        <p:sp>
          <p:nvSpPr>
            <p:cNvPr id="10" name="Text 8"/>
            <p:cNvSpPr/>
            <p:nvPr/>
          </p:nvSpPr>
          <p:spPr>
            <a:xfrm>
              <a:off x="548640" y="2496312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Ride state</a:t>
              </a:r>
              <a:endParaRPr lang="en-US" sz="1600" dirty="0"/>
            </a:p>
          </p:txBody>
        </p:sp>
        <p:sp>
          <p:nvSpPr>
            <p:cNvPr id="11" name="Shape 9"/>
            <p:cNvSpPr/>
            <p:nvPr/>
          </p:nvSpPr>
          <p:spPr>
            <a:xfrm>
              <a:off x="2468880" y="2523744"/>
              <a:ext cx="1920240" cy="475488"/>
            </a:xfrm>
            <a:prstGeom prst="roundRect">
              <a:avLst>
                <a:gd name="adj" fmla="val 13462"/>
              </a:avLst>
            </a:prstGeom>
            <a:solidFill>
              <a:srgbClr val="FCEBEA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2" name="Text 10"/>
            <p:cNvSpPr/>
            <p:nvPr/>
          </p:nvSpPr>
          <p:spPr>
            <a:xfrm>
              <a:off x="2560320" y="2523744"/>
              <a:ext cx="17830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2E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Held in one server</a:t>
              </a:r>
              <a:endParaRPr lang="en-US" sz="1200" dirty="0"/>
            </a:p>
          </p:txBody>
        </p:sp>
        <p:sp>
          <p:nvSpPr>
            <p:cNvPr id="13" name="Shape 11"/>
            <p:cNvSpPr/>
            <p:nvPr/>
          </p:nvSpPr>
          <p:spPr>
            <a:xfrm>
              <a:off x="4572000" y="2523744"/>
              <a:ext cx="2286000" cy="475488"/>
            </a:xfrm>
            <a:prstGeom prst="roundRect">
              <a:avLst>
                <a:gd name="adj" fmla="val 13462"/>
              </a:avLst>
            </a:prstGeom>
            <a:solidFill>
              <a:srgbClr val="E4F8ED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4" name="Text 12"/>
            <p:cNvSpPr/>
            <p:nvPr/>
          </p:nvSpPr>
          <p:spPr>
            <a:xfrm>
              <a:off x="4663440" y="2523744"/>
              <a:ext cx="2148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585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Stored in MongoDB Atlas</a:t>
              </a:r>
              <a:endParaRPr lang="en-US" sz="12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48640" y="3118104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Refresh or restart</a:t>
              </a:r>
              <a:endParaRPr lang="en-US" sz="1600" dirty="0"/>
            </a:p>
          </p:txBody>
        </p:sp>
        <p:sp>
          <p:nvSpPr>
            <p:cNvPr id="16" name="Shape 14"/>
            <p:cNvSpPr/>
            <p:nvPr/>
          </p:nvSpPr>
          <p:spPr>
            <a:xfrm>
              <a:off x="2468880" y="3145536"/>
              <a:ext cx="1920240" cy="475488"/>
            </a:xfrm>
            <a:prstGeom prst="roundRect">
              <a:avLst>
                <a:gd name="adj" fmla="val 13462"/>
              </a:avLst>
            </a:prstGeom>
            <a:solidFill>
              <a:srgbClr val="FCEBEA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7" name="Text 15"/>
            <p:cNvSpPr/>
            <p:nvPr/>
          </p:nvSpPr>
          <p:spPr>
            <a:xfrm>
              <a:off x="2560320" y="3145536"/>
              <a:ext cx="17830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2E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Active ride lost</a:t>
              </a:r>
              <a:endParaRPr lang="en-US" sz="1200" dirty="0"/>
            </a:p>
          </p:txBody>
        </p:sp>
        <p:sp>
          <p:nvSpPr>
            <p:cNvPr id="18" name="Shape 16"/>
            <p:cNvSpPr/>
            <p:nvPr/>
          </p:nvSpPr>
          <p:spPr>
            <a:xfrm>
              <a:off x="4572000" y="3145536"/>
              <a:ext cx="2286000" cy="475488"/>
            </a:xfrm>
            <a:prstGeom prst="roundRect">
              <a:avLst>
                <a:gd name="adj" fmla="val 13462"/>
              </a:avLst>
            </a:prstGeom>
            <a:solidFill>
              <a:srgbClr val="E4F8ED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19" name="Text 17"/>
            <p:cNvSpPr/>
            <p:nvPr/>
          </p:nvSpPr>
          <p:spPr>
            <a:xfrm>
              <a:off x="4663440" y="3145536"/>
              <a:ext cx="2148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585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Ride recovered from database</a:t>
              </a:r>
              <a:endParaRPr lang="en-US" sz="1200" dirty="0"/>
            </a:p>
          </p:txBody>
        </p:sp>
        <p:sp>
          <p:nvSpPr>
            <p:cNvPr id="20" name="Text 18"/>
            <p:cNvSpPr/>
            <p:nvPr/>
          </p:nvSpPr>
          <p:spPr>
            <a:xfrm>
              <a:off x="548640" y="3739896"/>
              <a:ext cx="1828800" cy="5486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21212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Captain location</a:t>
              </a:r>
              <a:endParaRPr lang="en-US" sz="16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2468880" y="3767328"/>
              <a:ext cx="1920240" cy="475488"/>
            </a:xfrm>
            <a:prstGeom prst="roundRect">
              <a:avLst>
                <a:gd name="adj" fmla="val 13462"/>
              </a:avLst>
            </a:prstGeom>
            <a:solidFill>
              <a:srgbClr val="FCEBEA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2" name="Text 20"/>
            <p:cNvSpPr/>
            <p:nvPr/>
          </p:nvSpPr>
          <p:spPr>
            <a:xfrm>
              <a:off x="2560320" y="3767328"/>
              <a:ext cx="178308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dirty="0">
                  <a:solidFill>
                    <a:srgbClr val="9A2E2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Manual refresh</a:t>
              </a:r>
              <a:endParaRPr lang="en-US" sz="1200" dirty="0"/>
            </a:p>
          </p:txBody>
        </p:sp>
        <p:sp>
          <p:nvSpPr>
            <p:cNvPr id="23" name="Shape 21"/>
            <p:cNvSpPr/>
            <p:nvPr/>
          </p:nvSpPr>
          <p:spPr>
            <a:xfrm>
              <a:off x="4572000" y="3767328"/>
              <a:ext cx="2286000" cy="475488"/>
            </a:xfrm>
            <a:prstGeom prst="roundRect">
              <a:avLst>
                <a:gd name="adj" fmla="val 13462"/>
              </a:avLst>
            </a:prstGeom>
            <a:solidFill>
              <a:srgbClr val="E4F8ED"/>
            </a:solidFill>
            <a:ln/>
          </p:spPr>
          <p:txBody>
            <a:bodyPr/>
            <a:lstStyle/>
            <a:p>
              <a:endParaRPr lang="en-IN" sz="3200"/>
            </a:p>
          </p:txBody>
        </p:sp>
        <p:sp>
          <p:nvSpPr>
            <p:cNvPr id="24" name="Text 22"/>
            <p:cNvSpPr/>
            <p:nvPr/>
          </p:nvSpPr>
          <p:spPr>
            <a:xfrm>
              <a:off x="4663440" y="3767328"/>
              <a:ext cx="21488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05854A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Auto GPS every 10 s</a:t>
              </a:r>
              <a:endParaRPr lang="en-US" sz="1200" dirty="0"/>
            </a:p>
          </p:txBody>
        </p:sp>
      </p:grpSp>
      <p:sp>
        <p:nvSpPr>
          <p:cNvPr id="25" name="Shape 23"/>
          <p:cNvSpPr/>
          <p:nvPr/>
        </p:nvSpPr>
        <p:spPr>
          <a:xfrm>
            <a:off x="7360920" y="1508760"/>
            <a:ext cx="4297680" cy="5212080"/>
          </a:xfrm>
          <a:prstGeom prst="roundRect">
            <a:avLst>
              <a:gd name="adj" fmla="val 2128"/>
            </a:avLst>
          </a:prstGeom>
          <a:solidFill>
            <a:srgbClr val="0D0D0D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768096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THE LOAD TEST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8096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680960" y="25694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requests, 0 failures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768096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 s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7680960" y="343814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latency, single request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7680960" y="38862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 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7680960" y="4306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latency at 50 concurrent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7680960" y="4754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~1.5x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7680960" y="517550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A9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rise for 50x the load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7680960" y="5669280"/>
            <a:ext cx="365760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Text 34"/>
          <p:cNvSpPr/>
          <p:nvPr/>
        </p:nvSpPr>
        <p:spPr>
          <a:xfrm>
            <a:off x="7680960" y="5806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i="1" dirty="0">
                <a:solidFill>
                  <a:srgbClr val="C7C7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Analysis: latency stays nearly flat as load grows, so the API tier scales well. Time is likely dominated by the external Maps call, so caching fares is the next step.</a:t>
            </a:r>
            <a:endParaRPr lang="en-US" sz="10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&amp; SCREENSHOTS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RideX Live Demo</a:t>
            </a:r>
            <a:endParaRPr lang="en-US" sz="2700" dirty="0"/>
          </a:p>
        </p:txBody>
      </p:sp>
      <p:pic>
        <p:nvPicPr>
          <p:cNvPr id="5" name="Picture 4" descr="WhatsApp_Image_2026-10-01_at_9_56_56_P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3566160" cy="1828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34107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Landing page</a:t>
            </a:r>
          </a:p>
        </p:txBody>
      </p:sp>
      <p:pic>
        <p:nvPicPr>
          <p:cNvPr id="7" name="Picture 6" descr="signin_blur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79" y="1554480"/>
            <a:ext cx="356616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97679" y="34107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Rider sign-in</a:t>
            </a:r>
          </a:p>
        </p:txBody>
      </p:sp>
      <p:pic>
        <p:nvPicPr>
          <p:cNvPr id="9" name="Picture 8" descr="WhatsApp_Image_2026-10-01_at_9_56_59_PM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19" y="1554480"/>
            <a:ext cx="3566160" cy="18288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19" y="34107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Pickup and destination on map</a:t>
            </a:r>
          </a:p>
        </p:txBody>
      </p:sp>
      <p:pic>
        <p:nvPicPr>
          <p:cNvPr id="11" name="Picture 10" descr="WhatsApp_Image_2026-10-01_at_9_56_58_PM__1_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4069080"/>
            <a:ext cx="3566160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253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Vehicle and fare choice</a:t>
            </a:r>
          </a:p>
        </p:txBody>
      </p:sp>
      <p:pic>
        <p:nvPicPr>
          <p:cNvPr id="13" name="Picture 12" descr="WhatsApp_Image_2026-10-01_at_9_56_57_PM__2_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79" y="4069080"/>
            <a:ext cx="3566160" cy="1828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297679" y="59253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Finding a captain</a:t>
            </a:r>
          </a:p>
        </p:txBody>
      </p:sp>
      <p:pic>
        <p:nvPicPr>
          <p:cNvPr id="15" name="Picture 14" descr="WhatsApp_Image_2026-10-01_at_9_56_57_PM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19" y="4069080"/>
            <a:ext cx="3566160" cy="1828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046719" y="5925311"/>
            <a:ext cx="3566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333333"/>
                </a:solidFill>
              </a:rPr>
              <a:t>Captain dashboard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&amp; SOLUTIONS</a:t>
            </a:r>
            <a:endParaRPr lang="en-US" sz="11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Challenges We Faced and How We Solved Them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0" descr="/home/claude/work/icons/puzzlePie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37360"/>
            <a:ext cx="292608" cy="2926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184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Sockets on serverless hosting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9476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Vercel functions cannot hold persistent connections, so we added 3 s polling fallbacks for rider and captain.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441448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0" name="Image 1" descr="/home/claude/work/icons/heartPul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78608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25880" y="2459736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Database connections on cold starts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1325880" y="27889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Added a connection-reuse guard so each serverless call reuses the open MongoDB connection.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548640" y="3282696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4" name="Image 2" descr="/home/claude/work/icons/scaleBalanc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419856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25880" y="330098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Deployment-only model error</a:t>
            </a:r>
            <a:endParaRPr lang="en-US" sz="1450" dirty="0"/>
          </a:p>
        </p:txBody>
      </p:sp>
      <p:sp>
        <p:nvSpPr>
          <p:cNvPr id="16" name="Text 11"/>
          <p:cNvSpPr/>
          <p:nvPr/>
        </p:nvSpPr>
        <p:spPr>
          <a:xfrm>
            <a:off x="1325880" y="363016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 case-sensitive file name (blackListToken) broke on Vercel's Linux build; renamed it.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548640" y="4123944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8" name="Image 3" descr="/home/claude/work/icons/chartLi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" y="4261104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25880" y="414223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Ride state lost on refresh</a:t>
            </a:r>
            <a:endParaRPr lang="en-US" sz="1450" dirty="0"/>
          </a:p>
        </p:txBody>
      </p:sp>
      <p:sp>
        <p:nvSpPr>
          <p:cNvPr id="20" name="Text 14"/>
          <p:cNvSpPr/>
          <p:nvPr/>
        </p:nvSpPr>
        <p:spPr>
          <a:xfrm>
            <a:off x="1325880" y="4471416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Active ride, status and OTP are recovered from the database after refresh or window switch.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548640" y="496519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/home/claude/work/icons/laptopCod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510235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325880" y="49834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Too many map API calls</a:t>
            </a:r>
            <a:endParaRPr lang="en-US" sz="1450" dirty="0"/>
          </a:p>
        </p:txBody>
      </p:sp>
      <p:sp>
        <p:nvSpPr>
          <p:cNvPr id="24" name="Text 17"/>
          <p:cNvSpPr/>
          <p:nvPr/>
        </p:nvSpPr>
        <p:spPr>
          <a:xfrm>
            <a:off x="1325880" y="5312664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latin typeface="Arial" pitchFamily="34" charset="0"/>
                <a:ea typeface="Arial" pitchFamily="34" charset="-122"/>
                <a:cs typeface="Arial" pitchFamily="34" charset="-120"/>
              </a:rPr>
              <a:t>Debounced location suggestions to cut Google Maps requests while typing.</a:t>
            </a:r>
            <a:endParaRPr lang="en-US" sz="1100" dirty="0"/>
          </a:p>
        </p:txBody>
      </p:sp>
      <p:sp>
        <p:nvSpPr>
          <p:cNvPr id="25" name="Shape 18"/>
          <p:cNvSpPr/>
          <p:nvPr/>
        </p:nvSpPr>
        <p:spPr>
          <a:xfrm>
            <a:off x="548640" y="5852160"/>
            <a:ext cx="11109960" cy="0"/>
          </a:xfrm>
          <a:prstGeom prst="line">
            <a:avLst/>
          </a:prstGeom>
          <a:noFill/>
          <a:ln w="12700">
            <a:solidFill>
              <a:srgbClr val="2A2A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19"/>
          <p:cNvSpPr/>
          <p:nvPr/>
        </p:nvSpPr>
        <p:spPr>
          <a:xfrm>
            <a:off x="548640" y="5989320"/>
            <a:ext cx="112121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Takeaway:  </a:t>
            </a:r>
            <a:r>
              <a:rPr lang="en-US" sz="115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Deploying the prototype showed that real-time systems must tolerate unreliable connections and restarts.</a:t>
            </a:r>
            <a:endParaRPr lang="en-US" sz="115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6C1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1070407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3A3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moved from the Uber case study to a working RideX prototype that applies distributed-systems principles.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258775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0" descr="/home/claude/work/icons/bo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832" y="2724912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addressed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554480" y="29260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matching of riders and captains through independent tiers.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80760" y="233172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1" name="Shape 8"/>
          <p:cNvSpPr/>
          <p:nvPr/>
        </p:nvSpPr>
        <p:spPr>
          <a:xfrm>
            <a:off x="6336792" y="258775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1" descr="/home/claude/work/icons/chart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952" y="272491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086600" y="25328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Principles applied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7086600" y="292608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Client-server separation, event-driven sockets and a replicated cloud database.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420624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16" name="Shape 12"/>
          <p:cNvSpPr/>
          <p:nvPr/>
        </p:nvSpPr>
        <p:spPr>
          <a:xfrm>
            <a:off x="804672" y="446227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2" descr="/home/claude/work/icons/glob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832" y="4599432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Trade-offs understood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554480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 and eventual consistency were favoured for live ride updates.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080760" y="4206240"/>
            <a:ext cx="5257800" cy="1691640"/>
          </a:xfrm>
          <a:prstGeom prst="roundRect">
            <a:avLst>
              <a:gd name="adj" fmla="val 4324"/>
            </a:avLst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1" name="Shape 16"/>
          <p:cNvSpPr/>
          <p:nvPr/>
        </p:nvSpPr>
        <p:spPr>
          <a:xfrm>
            <a:off x="6336792" y="4462272"/>
            <a:ext cx="566928" cy="566928"/>
          </a:xfrm>
          <a:prstGeom prst="ellipse">
            <a:avLst/>
          </a:prstGeom>
          <a:solidFill>
            <a:srgbClr val="06C16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3" descr="/home/claude/work/icons/triangleExclama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4599432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086600" y="44074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21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work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7086600" y="4800600"/>
            <a:ext cx="4023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Fare and route caching, geospatial indexing, horizontal scaling and tests with real devices.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Words>1728</Words>
  <Application>Microsoft Office PowerPoint</Application>
  <PresentationFormat>Widescreen</PresentationFormat>
  <Paragraphs>277</Paragraphs>
  <Slides>16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RITHU</dc:creator>
  <cp:lastModifiedBy>Rithikkaa S.J</cp:lastModifiedBy>
  <cp:revision>4</cp:revision>
  <dcterms:created xsi:type="dcterms:W3CDTF">2026-07-31T02:11:45Z</dcterms:created>
  <dcterms:modified xsi:type="dcterms:W3CDTF">2026-10-02T10:12:48Z</dcterms:modified>
</cp:coreProperties>
</file>